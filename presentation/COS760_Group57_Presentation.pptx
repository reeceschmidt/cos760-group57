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Cross-Lingual Detection of
Machine-Generated Text in isiZulu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Using Transfer Learning and Explainability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Group 57 | COS760 | University of Pretoria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LLMs now generate fluent text in 100+ languages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isiZulu: 12M+ speakers, most spoken home language in South Africa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Risks: academic fraud, misinformation, fake government communications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Gap: Zero existing MGT detection research for isiZulu or Bantu languages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000000"/>
                </a:solidFill>
                <a:latin typeface="Calibri"/>
              </a:rPr>
              <a:t>• Our contribution: First transformer-based MGT detector for isiZulu + explainability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3366"/>
                </a:solidFill>
                <a:latin typeface="Calibri"/>
              </a:rPr>
              <a:t>RQ1: How accurately can fine-tuned AfroXLMR detect machine-generated isiZulu text?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3366"/>
                </a:solidFill>
                <a:latin typeface="Calibri"/>
              </a:rPr>
              <a:t>RQ2: Does an English-trained classifier transfer to isiZulu, and what does LIME reveal about cross-lingual detection features?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366"/>
                </a:solidFill>
                <a:latin typeface="Calibri"/>
              </a:rPr>
              <a:t>Human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isiZulu: Vukuzenzele + Wikipedia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English: News articles + Wikipedia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Chunked into 4-sentence segments (≥30 words)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366"/>
                </a:solidFill>
                <a:latin typeface="Calibri"/>
              </a:rPr>
              <a:t>Machine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Generator: Gemma 4 (26B parameters)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185 topic cues × 4 prompt templates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Both isiZulu and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Splits: 70% train / 15% val / 15%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Calibri"/>
              </a:rPr>
              <a:t>Configs: isiZulu-only (946/203/203) | English-only (977/209/210) | Combined | Cross-lingual (Eng→Zul)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Models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366"/>
                </a:solidFill>
                <a:latin typeface="Calibri"/>
              </a:rPr>
              <a:t>Primary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AfroXLMR-base (Davlan/afro-xlmr-base)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278M params, 12 layers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Additional pretraining on 17 African languages incl. isiZulu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366"/>
                </a:solidFill>
                <a:latin typeface="Calibri"/>
              </a:rPr>
              <a:t>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XLM-RoBERTa-base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278M params, same architecture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• General multilingual (100 languages, no African specialisation)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Training: lr=2×10⁻⁵, batch=16, max_len=256, early stopping (patience=2), seed=42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Calibri"/>
              </a:rPr>
              <a:t>Explainability: LIME — top 12 tokens per sample, 10 samples per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0607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2011680"/>
                <a:gridCol w="201168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AfroXLMR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isiZulu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0.975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0.975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0.995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AfroXLMR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English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AfroXLMR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Combined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0.985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0.985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0.995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AfroXLMR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Cross-lingual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0.737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0.754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XLM-R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isiZulu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0.941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0.941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0.993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XLM-R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English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XLM-R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Combined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0.983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0.983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0.995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XLM-R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Cross-lingual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Majority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0.334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0.502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9377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AfroXLMR beats XLM-R on isiZulu by 3.4 F1 points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Cross-lingual gap: 32 F1 points (AfroXLMR 0.737 vs XLM-R 0.417)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Monolingual detection near-perfect for both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LIME Explainability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66"/>
                </a:solidFill>
                <a:latin typeface="Calibri"/>
              </a:rPr>
              <a:t>isiZulu Model (strong signal)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Top tokens: kubalulekile, okuhloselwe, Ngokusebenzisana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Avg weight: 0.13–0.23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Detects: formal vocabulary, discourse markers overused by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3366"/>
                </a:solidFill>
                <a:latin typeface="Calibri"/>
              </a:rPr>
              <a:t>Cross-lingual Model (weak signal)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Top tokens: Kubalulekile, ezitholakala, izindleko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Avg weight: 0.02–0.03 (10× weaker)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Near-random feature reliance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Jaccard similarity of top features: 0.043 (almost no overlap)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Calibri"/>
              </a:rPr>
              <a:t>• Conclusion: English detection patterns do NOT transfer to isiZulu morphology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52400" lIns="3048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366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 AfroXLMR achieves F1 = 0.975 on isiZulu MGT detection ✓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 Cross-lingual transfer is feasible but limited (F1 = 0.737) — language-specific training essential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 LIME confirms fundamentally different detection strategies per language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 African language pretraining provides critical advantage (+3.4 F1 mono, +32 F1 cross)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366"/>
                </a:solidFill>
                <a:latin typeface="Calibri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 Multiple generators (GPT-4, Claude, Llama)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 More African languages (Xhosa, Sotho, Swahili)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 Threshold calibration for cross-lingual deployment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Calibri"/>
              </a:rPr>
              <a:t>• Few-shot adaptation as middle ground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